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acb047ca874d8d" /><Relationship Type="http://schemas.openxmlformats.org/officeDocument/2006/relationships/extended-properties" Target="/docProps/app.xml" Id="R4cc437f0f6224842" /><Relationship Type="http://schemas.openxmlformats.org/officeDocument/2006/relationships/officeDocument" Target="/ppt/presentation.xml" Id="R5662e691be2643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fd9a09050845dc"/>
  </p:sldMasterIdLst>
  <p:notesMasterIdLst>
    <p:notesMasterId xmlns:r="http://schemas.openxmlformats.org/officeDocument/2006/relationships" r:id="R60c3f61536134c05"/>
  </p:notesMasterIdLst>
  <p:sldIdLst>
    <p:sldId xmlns:r="http://schemas.openxmlformats.org/officeDocument/2006/relationships" id="256" r:id="R25c1b7fcdef74cc7"/>
    <p:sldId xmlns:r="http://schemas.openxmlformats.org/officeDocument/2006/relationships" id="257" r:id="R96336394d7c6420b"/>
    <p:sldId xmlns:r="http://schemas.openxmlformats.org/officeDocument/2006/relationships" id="258" r:id="Rbbea782522f84730"/>
    <p:sldId xmlns:r="http://schemas.openxmlformats.org/officeDocument/2006/relationships" id="259" r:id="Rf58b66fde8a041de"/>
    <p:sldId xmlns:r="http://schemas.openxmlformats.org/officeDocument/2006/relationships" id="260" r:id="R2d6a733035b14012"/>
    <p:sldId xmlns:r="http://schemas.openxmlformats.org/officeDocument/2006/relationships" id="261" r:id="Rc3e0c60de7554402"/>
    <p:sldId xmlns:r="http://schemas.openxmlformats.org/officeDocument/2006/relationships" id="262" r:id="Ra096288a35a44b09"/>
    <p:sldId xmlns:r="http://schemas.openxmlformats.org/officeDocument/2006/relationships" id="263" r:id="Rd615247d45964a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3ab2422cd64e70" /><Relationship Type="http://schemas.openxmlformats.org/officeDocument/2006/relationships/slideMaster" Target="/ppt/slideMasters/slideMaster1.xml" Id="R89fd9a09050845dc" /><Relationship Type="http://schemas.openxmlformats.org/officeDocument/2006/relationships/notesMaster" Target="/ppt/notesMasters/notesMaster1.xml" Id="R60c3f61536134c05" /><Relationship Type="http://schemas.openxmlformats.org/officeDocument/2006/relationships/presProps" Target="/ppt/presProps.xml" Id="R59009d9dded94d35" /><Relationship Type="http://schemas.openxmlformats.org/officeDocument/2006/relationships/tableStyles" Target="/ppt/tableStyles.xml" Id="R394eb4bcec88431b" /><Relationship Type="http://schemas.openxmlformats.org/officeDocument/2006/relationships/slide" Target="/ppt/slides/slide1.xml" Id="R25c1b7fcdef74cc7" /><Relationship Type="http://schemas.openxmlformats.org/officeDocument/2006/relationships/slide" Target="/ppt/slides/slide2.xml" Id="R96336394d7c6420b" /><Relationship Type="http://schemas.openxmlformats.org/officeDocument/2006/relationships/slide" Target="/ppt/slides/slide3.xml" Id="Rbbea782522f84730" /><Relationship Type="http://schemas.openxmlformats.org/officeDocument/2006/relationships/slide" Target="/ppt/slides/slide4.xml" Id="Rf58b66fde8a041de" /><Relationship Type="http://schemas.openxmlformats.org/officeDocument/2006/relationships/slide" Target="/ppt/slides/slide5.xml" Id="R2d6a733035b14012" /><Relationship Type="http://schemas.openxmlformats.org/officeDocument/2006/relationships/slide" Target="/ppt/slides/slide6.xml" Id="Rc3e0c60de7554402" /><Relationship Type="http://schemas.openxmlformats.org/officeDocument/2006/relationships/slide" Target="/ppt/slides/slide7.xml" Id="Ra096288a35a44b09" /><Relationship Type="http://schemas.openxmlformats.org/officeDocument/2006/relationships/slide" Target="/ppt/slides/slide8.xml" Id="Rd615247d45964a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fbcb6d059848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83f34ff41a4b72" /><Relationship Type="http://schemas.openxmlformats.org/officeDocument/2006/relationships/notesMaster" Target="/ppt/notesMasters/notesMaster1.xml" Id="Ra9e918d212f949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7785fc48cf4afc" /><Relationship Type="http://schemas.openxmlformats.org/officeDocument/2006/relationships/notesMaster" Target="/ppt/notesMasters/notesMaster1.xml" Id="R7ce0c93c77b345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0439feafbf4001" /><Relationship Type="http://schemas.openxmlformats.org/officeDocument/2006/relationships/notesMaster" Target="/ppt/notesMasters/notesMaster1.xml" Id="Rb8437491b1d540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a6962a41484011" /><Relationship Type="http://schemas.openxmlformats.org/officeDocument/2006/relationships/notesMaster" Target="/ppt/notesMasters/notesMaster1.xml" Id="R11dc9b2fa6b648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4bce20d3064a6b" /><Relationship Type="http://schemas.openxmlformats.org/officeDocument/2006/relationships/notesMaster" Target="/ppt/notesMasters/notesMaster1.xml" Id="Re121bdd28d5c4a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cf2b3d7a6d4064" /><Relationship Type="http://schemas.openxmlformats.org/officeDocument/2006/relationships/notesMaster" Target="/ppt/notesMasters/notesMaster1.xml" Id="R568f70ed1ff04e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0f575d38aa4cc8" /><Relationship Type="http://schemas.openxmlformats.org/officeDocument/2006/relationships/notesMaster" Target="/ppt/notesMasters/notesMaster1.xml" Id="R13bce36e032348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f73af551294ff0" /><Relationship Type="http://schemas.openxmlformats.org/officeDocument/2006/relationships/notesMaster" Target="/ppt/notesMasters/notesMaster1.xml" Id="Reb7c8254d68445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17aa799764a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8f2fe39d6040ef" /><Relationship Type="http://schemas.openxmlformats.org/officeDocument/2006/relationships/slideLayout" Target="/ppt/slideLayouts/slideLayout1.xml" Id="R253e52e698604c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3e52e698604c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46b7802ee4c4c" /><Relationship Type="http://schemas.openxmlformats.org/officeDocument/2006/relationships/notesSlide" Target="/ppt/notesSlides/notesSlide1.xml" Id="R14937b5ba1b749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7ae4a57344a96" /><Relationship Type="http://schemas.openxmlformats.org/officeDocument/2006/relationships/notesSlide" Target="/ppt/notesSlides/notesSlide2.xml" Id="R7d115fc065e144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cb2bfe2344dbf" /><Relationship Type="http://schemas.openxmlformats.org/officeDocument/2006/relationships/notesSlide" Target="/ppt/notesSlides/notesSlide3.xml" Id="R743c4c45b09d47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2042e1821498e" /><Relationship Type="http://schemas.openxmlformats.org/officeDocument/2006/relationships/notesSlide" Target="/ppt/notesSlides/notesSlide4.xml" Id="Rd7eb5038238f47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eae0ee47249e2" /><Relationship Type="http://schemas.openxmlformats.org/officeDocument/2006/relationships/notesSlide" Target="/ppt/notesSlides/notesSlide5.xml" Id="Rf19255ce0f9a43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8e1b5804d4f4a" /><Relationship Type="http://schemas.openxmlformats.org/officeDocument/2006/relationships/notesSlide" Target="/ppt/notesSlides/notesSlide6.xml" Id="Re0b5dff4e6ea47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042af7de84992" /><Relationship Type="http://schemas.openxmlformats.org/officeDocument/2006/relationships/notesSlide" Target="/ppt/notesSlides/notesSlide7.xml" Id="Re717affea16c41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5ee0b1a90487a" /><Relationship Type="http://schemas.openxmlformats.org/officeDocument/2006/relationships/notesSlide" Target="/ppt/notesSlides/notesSlide8.xml" Id="R66f85cea0c464e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2AEE6-6E22-4A54-8451-C35F5465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B2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CAF8A-74F1-4096-9767-6BB84F9C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5B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15B24"/>
                </a:solidFill>
                <a:latin typeface="Arial"/>
                <a:ea typeface="Arial"/>
                <a:cs typeface="Arial"/>
              </a:rPr>
              <a:t>STRATEGY REVIEW ·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8B519-6345-4A4B-BB86-8A64EACB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345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医疗健康“四到”战略回顾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27647-65B8-42CF-92F6-74973604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66B73"/>
                </a:solidFill>
                <a:latin typeface="STKaiti"/>
                <a:ea typeface="STKaiti"/>
                <a:cs typeface="STKaiti"/>
              </a:defRPr>
            </a:pPr>
            <a:r>
              <a:rPr sz="2025" b="0">
                <a:solidFill>
                  <a:srgbClr val="666B73"/>
                </a:solidFill>
                <a:latin typeface="STKaiti"/>
                <a:ea typeface="STKaiti"/>
                <a:cs typeface="STKaiti"/>
              </a:rPr>
              <a:t>从渠道覆盖走向连续服务与价值闭环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3C183-602A-4FEB-BA3C-98B92BAF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B2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FA5EF-C349-4A3F-ABF2-03EFB7B7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575" b="0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Ghost Deck 包含故事线、分析框架和每页核心内容，可直接作为正式汇报的起点。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7F684-956F-4EC2-94FB-B6B58683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B73"/>
                </a:solidFill>
                <a:latin typeface="STKaiti"/>
                <a:ea typeface="STKaiti"/>
                <a:cs typeface="STKaiti"/>
              </a:defRPr>
            </a:pPr>
            <a:r>
              <a:rPr sz="1050" b="0">
                <a:solidFill>
                  <a:srgbClr val="666B73"/>
                </a:solidFill>
                <a:latin typeface="STKaiti"/>
                <a:ea typeface="STKaiti"/>
                <a:cs typeface="STKaiti"/>
              </a:rPr>
              <a:t>战略发展中心  |  2026年9月  |  产品演示模拟数据</a:t>
            </a:r>
          </a:p>
        </p:txBody>
      </p:sp>
    </p:spTree>
    <p:extLst>
      <p:ext uri="{BB962C8B-B14F-4D97-AF65-F5344CB8AC3E}">
        <p14:creationId xmlns:p14="http://schemas.microsoft.com/office/powerpoint/2010/main" val="20530713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3A81F3-8CB1-4627-8A2A-DE84FB8F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5B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15B24"/>
                </a:solidFill>
                <a:latin typeface="Arial"/>
                <a:ea typeface="Arial"/>
                <a:cs typeface="Arial"/>
              </a:rPr>
              <a:t>四到战略回顾 · GHOST DECK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23107-C67A-4EAF-A715-92C47149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255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故事线：从历史回顾到下一阶段战略选择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2D745-6F3F-4E0F-8354-AA2EFDC4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93F1E-A90E-4771-844F-349BC7E6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8A317-2570-4A87-AB96-0A58D995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15B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15B2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DABEF-2C34-4073-A594-E74AE897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95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战略演进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0A575-097D-4551-89C9-9D6410AB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2209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3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666B73"/>
                </a:solidFill>
                <a:latin typeface="STKaiti"/>
                <a:ea typeface="STKaiti"/>
                <a:cs typeface="STKaiti"/>
              </a:rPr>
              <a:t>回顾三年目标与关键举措，识别稳定主线与变化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ED00E-7700-43AC-AA8F-2098EDAA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716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E4816-0F2E-4886-803B-A848906A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335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15B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15B2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AF798-061E-403B-B063-15696F14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431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95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进展与差距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2A226-77CE-481F-A0EC-8C5CEF7F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95600"/>
            <a:ext cx="2209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3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666B73"/>
                </a:solidFill>
                <a:latin typeface="STKaiti"/>
                <a:ea typeface="STKaiti"/>
                <a:cs typeface="STKaiti"/>
              </a:rPr>
              <a:t>结合最新台账，判断覆盖是否转化为服务闭环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A20CD-BBB5-4657-9B16-2A8539EF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716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2309C2-8AAF-4433-9FA9-B6DB639D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335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15B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15B2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5C5CA-70BA-48A0-BF51-FAC389FD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95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外部启示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18F16-99A5-4CED-8DC4-C9BD45C8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95600"/>
            <a:ext cx="2209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3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666B73"/>
                </a:solidFill>
                <a:latin typeface="STKaiti"/>
                <a:ea typeface="STKaiti"/>
                <a:cs typeface="STKaiti"/>
              </a:rPr>
              <a:t>对标价值医疗和国内平台，识别可借鉴能力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D0D4DD-2B51-4385-9B7B-48DCEFAE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716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93C744-0D94-4E85-BA79-4FD1E8B3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335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15B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15B2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0D9723-976E-4634-8ACD-6EEC1598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431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95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下一阶段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7A12AE-8548-4180-BD2B-BE0D05CB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95600"/>
            <a:ext cx="2209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3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666B73"/>
                </a:solidFill>
                <a:latin typeface="STKaiti"/>
                <a:ea typeface="STKaiti"/>
                <a:cs typeface="STKaiti"/>
              </a:rPr>
              <a:t>确定优先场景、能力建设和管理机制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57B294-505B-4503-961F-658AFD55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10706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1E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2F855A-4C0C-4283-ABAE-30188A79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244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5B24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F15B24"/>
                </a:solidFill>
                <a:latin typeface="STKaiti"/>
                <a:ea typeface="STKaiti"/>
                <a:cs typeface="STKaiti"/>
              </a:rPr>
              <a:t>核心问题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CE354F-BFDF-4608-AA2A-F8C87F18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57750"/>
            <a:ext cx="889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“四到”如何从四类触点升级为可持续的医疗健康服务模式，并形成客户价值与经营价值？</a:t>
            </a:r>
          </a:p>
        </p:txBody>
      </p:sp>
    </p:spTree>
    <p:extLst>
      <p:ext uri="{BB962C8B-B14F-4D97-AF65-F5344CB8AC3E}">
        <p14:creationId xmlns:p14="http://schemas.microsoft.com/office/powerpoint/2010/main" val="13756270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C99876-CD26-4783-8353-E9BFC516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5B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15B24"/>
                </a:solidFill>
                <a:latin typeface="Arial"/>
                <a:ea typeface="Arial"/>
                <a:cs typeface="Arial"/>
              </a:rPr>
              <a:t>四到战略回顾 · GHOST DECK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73C08-1F04-4EF7-9DBE-C2EE7683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255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分析框架：用五个视角检视战略闭环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28D1C-A41A-4B6B-808D-64123984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EE1D3-1513-4143-93E0-E23BD2FC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1CA07-B621-469E-90FC-2ED914D2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B2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CF196-D0B5-4FF3-866A-A2836866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5B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5B2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8AA04-3A04-424E-8F86-F2CCE33D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80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客户旅程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F66FF-A643-47E7-9B44-62281F0B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7907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B73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666B73"/>
                </a:solidFill>
                <a:latin typeface="STKaiti"/>
                <a:ea typeface="STKaiti"/>
                <a:cs typeface="STKaiti"/>
              </a:rPr>
              <a:t>线上问诊、线下就医、居家服务和企业健康是否顺畅衔接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3BD8E-9C5B-4D19-9817-78E80D6E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76400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FAC3C-CD9C-432C-9ACE-A2E3F94A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859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5B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5B2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2BD661-78E6-4FCA-9337-5BA95A8A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241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80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支付闭环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387471-0BA2-458D-8C04-435195A8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57500"/>
            <a:ext cx="17907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B73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666B73"/>
                </a:solidFill>
                <a:latin typeface="STKaiti"/>
                <a:ea typeface="STKaiti"/>
                <a:cs typeface="STKaiti"/>
              </a:rPr>
              <a:t>保险、企业账户与个人支付能否支撑直付和持续运营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75431-839B-432C-9539-0A056A49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76400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6D1E5-3C85-4372-9A3A-9FA5EF5D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859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5B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5B2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F16187-ECBA-4614-868E-48AC1686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241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80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医疗供给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2CE79-5B2D-4858-9044-5F83CED5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57500"/>
            <a:ext cx="17907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B73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666B73"/>
                </a:solidFill>
                <a:latin typeface="STKaiti"/>
                <a:ea typeface="STKaiti"/>
                <a:cs typeface="STKaiti"/>
              </a:rPr>
              <a:t>医院、医生、药店和居家服务是否具备一致质量标准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EC5418-918A-4A70-A18B-4CCB79A3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76400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57CC9A-03EB-40FD-981F-2AB70CF3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859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5B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5B2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7A4B42-2D7C-4454-A9EB-21FE7DCD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80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数据与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3BFB8B-E126-468E-96C5-7A0CB6A7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57500"/>
            <a:ext cx="17907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B73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666B73"/>
                </a:solidFill>
                <a:latin typeface="STKaiti"/>
                <a:ea typeface="STKaiti"/>
                <a:cs typeface="STKaiti"/>
              </a:rPr>
              <a:t>身份、健康数据和服务记录能否形成识别、导航与运营能力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873C28-DEF5-477D-B30B-379AE544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76400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4EC59C-6BF5-4F2C-8592-2831F91A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859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5B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5B2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88DB86-1E8F-4962-8281-8E5A585E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241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80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价值衡量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8080C8-4636-428B-95EC-4A8AA5D0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17907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B73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666B73"/>
                </a:solidFill>
                <a:latin typeface="STKaiti"/>
                <a:ea typeface="STKaiti"/>
                <a:cs typeface="STKaiti"/>
              </a:rPr>
              <a:t>健康结果、体验、成本和金融协同是否纳入统一指标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909C32-37F3-4F7E-A303-E038C8DD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80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五个视角共同回答一个问题：服务覆盖是否转化为可管理、可衡量、可复制的价值闭环。</a:t>
            </a:r>
          </a:p>
        </p:txBody>
      </p:sp>
    </p:spTree>
    <p:extLst>
      <p:ext uri="{BB962C8B-B14F-4D97-AF65-F5344CB8AC3E}">
        <p14:creationId xmlns:p14="http://schemas.microsoft.com/office/powerpoint/2010/main" val="18155723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B3F24A-69AC-4B86-91A2-F0430C95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5B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15B24"/>
                </a:solidFill>
                <a:latin typeface="Arial"/>
                <a:ea typeface="Arial"/>
                <a:cs typeface="Arial"/>
              </a:rPr>
              <a:t>四到战略回顾 · GHOST DECK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1E2F5-73E6-4462-B8C2-6308345F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255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三年战略演进：从顶层设计转向能力与价值验证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55B61-7BFD-42E3-B044-CC144EE0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5551A-6B8B-4DE0-AA03-D9B70F72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A0984-643E-4162-AF59-37660528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952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FDD36-6A94-44F4-9540-8808808E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74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91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1F293-5994-499C-9AB8-4B11C142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15B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15B24"/>
                </a:solidFill>
                <a:latin typeface="Arial"/>
                <a:ea typeface="Arial"/>
                <a:cs typeface="Arial"/>
              </a:rPr>
              <a:t>2023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FA270-E155-4D01-8063-4545B09A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875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顶层设计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D7B05-8230-4373-8D1F-B9B7D3DE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3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666B73"/>
                </a:solidFill>
                <a:latin typeface="STKaiti"/>
                <a:ea typeface="STKaiti"/>
                <a:cs typeface="STKaiti"/>
              </a:rPr>
              <a:t>明确四类服务触点、目标客群与协同关系，形成统一战略蓝图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5EC67-3B4B-479B-AC1E-03FF531F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574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91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D26AC-8B3F-4A85-9D02-474BE7AF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907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15B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15B24"/>
                </a:solidFill>
                <a:latin typeface="Arial"/>
                <a:ea typeface="Arial"/>
                <a:cs typeface="Arial"/>
              </a:rPr>
              <a:t>2024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A75CB-585E-4E6B-A2F8-161AA70E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3850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875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生态协同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1FE5E-841C-4B18-83C4-7A646236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3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666B73"/>
                </a:solidFill>
                <a:latin typeface="STKaiti"/>
                <a:ea typeface="STKaiti"/>
                <a:cs typeface="STKaiti"/>
              </a:rPr>
              <a:t>连接支付方、医疗供给和健康服务，推动权益嵌入客户经营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187E7C-8B26-433F-BD9E-42F26DDA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574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15B24"/>
          </a:solidFill>
          <a:ln xmlns:a="http://schemas.openxmlformats.org/drawingml/2006/main" w="9525">
            <a:solidFill>
              <a:srgbClr val="F15B2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8A09BA-89E8-42C3-9CD3-8E118F82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907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15B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15B24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C451C-4F82-4069-814B-4041FAC3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3850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875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能力建设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F95C2B-C7F9-477A-9EFC-887E390F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1475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3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666B73"/>
                </a:solidFill>
                <a:latin typeface="STKaiti"/>
                <a:ea typeface="STKaiti"/>
                <a:cs typeface="STKaiti"/>
              </a:rPr>
              <a:t>加强服务质量、直付能力、AI医疗和资源整合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06082F-7CD1-4F9C-9EFC-D6A02627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1600"/>
            <a:ext cx="10896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C8037F-1A7C-461D-AF72-C46FF9EA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5B24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15B24"/>
                </a:solidFill>
                <a:latin typeface="STKaiti"/>
                <a:ea typeface="STKaiti"/>
                <a:cs typeface="STKaiti"/>
              </a:rPr>
              <a:t>演进判断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A4CDCE-0ECF-481E-8D4D-DC4598BE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38750"/>
            <a:ext cx="899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战略重点已经从“有没有触点”转向“跨场景是否连续、服务质量是否一致、价值是否可量化”。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9F2F58-B650-4082-A3AA-339D3D4F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F96"/>
                </a:solidFill>
                <a:latin typeface="STKaiti"/>
                <a:ea typeface="STKaiti"/>
                <a:cs typeface="STKaiti"/>
              </a:defRPr>
            </a:pPr>
            <a:r>
              <a:rPr sz="750" b="0">
                <a:solidFill>
                  <a:srgbClr val="8B8F96"/>
                </a:solidFill>
                <a:latin typeface="STKaiti"/>
                <a:ea typeface="STKaiti"/>
                <a:cs typeface="STKaiti"/>
              </a:rPr>
              <a:t>注：历史项目名称与内容为产品演示模拟信息</a:t>
            </a:r>
          </a:p>
        </p:txBody>
      </p:sp>
    </p:spTree>
    <p:extLst>
      <p:ext uri="{BB962C8B-B14F-4D97-AF65-F5344CB8AC3E}">
        <p14:creationId xmlns:p14="http://schemas.microsoft.com/office/powerpoint/2010/main" val="14493390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C233C2-A8D4-440A-B39A-53BCFF27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5B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15B24"/>
                </a:solidFill>
                <a:latin typeface="Arial"/>
                <a:ea typeface="Arial"/>
                <a:cs typeface="Arial"/>
              </a:rPr>
              <a:t>四到战略回顾 · GHOST DECK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DDD56-7990-48F9-AA37-1D33A1A8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255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最新进展：覆盖进度提升，跨场景闭环仍需验证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CF9D2-8FE8-425C-91A8-5C56FE1F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95735-FC35-4004-A42C-0C297564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F823A-C60F-4B17-A1CD-56C11926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575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到线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F430D-7597-4A20-934A-E2B96434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914525"/>
            <a:ext cx="7239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E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B5FED-D120-4BEA-BFDE-D91F8863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914525"/>
            <a:ext cx="593598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5B2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1B930-121B-4E57-828A-13C505C2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907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82%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65FB0-3A49-4D34-AE5D-5E57A147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575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到院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9285C-A1C2-41F9-A5A3-F9A8A83C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57475"/>
            <a:ext cx="7239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E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A6747-A012-4F25-896C-30A4F24A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57475"/>
            <a:ext cx="492252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5B2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4B75B-5BA8-468D-B59F-C354578D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336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68%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C2752-DA05-453D-8FCA-B49600B9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575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到家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61D1F6-8F27-4EC2-8E75-512F2328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00425"/>
            <a:ext cx="7239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EF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A6D75-E272-4BB1-B686-BB5F5D15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00425"/>
            <a:ext cx="441579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5B2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29236-71C1-46F2-821E-931C8069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766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61%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ECFE6-969C-4897-9419-9A3E7463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575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到企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4E2844-4023-4964-89B2-C28FC1AA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143375"/>
            <a:ext cx="7239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EF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B4A9E5-198D-4276-B4B5-5F9B354D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143375"/>
            <a:ext cx="535686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5B2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F966F4-08B6-49DB-B3BF-920496D6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195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74%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59FAFD-5DCC-498D-B22D-BE9B6A4A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9906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1E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958E99-8159-4DDB-80C6-4DAB0EEC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5B24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15B24"/>
                </a:solidFill>
                <a:latin typeface="STKaiti"/>
                <a:ea typeface="STKaiti"/>
                <a:cs typeface="STKaiti"/>
              </a:rPr>
              <a:t>需要重点验证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48402F-16E0-4CDA-AF8C-88037872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816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身份与数据能否贯通、线下服务质量是否一致、直付场景是否充足、价值指标能否闭环。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5C4870-2E9F-4AD7-8F94-57539D6D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F96"/>
                </a:solidFill>
                <a:latin typeface="STKaiti"/>
                <a:ea typeface="STKaiti"/>
                <a:cs typeface="STKaiti"/>
              </a:defRPr>
            </a:pPr>
            <a:r>
              <a:rPr sz="750" b="0">
                <a:solidFill>
                  <a:srgbClr val="8B8F96"/>
                </a:solidFill>
                <a:latin typeface="STKaiti"/>
                <a:ea typeface="STKaiti"/>
                <a:cs typeface="STKaiti"/>
              </a:rPr>
              <a:t>注：进展比例为演示台账模拟数据，不代表真实经营情况</a:t>
            </a:r>
          </a:p>
        </p:txBody>
      </p:sp>
    </p:spTree>
    <p:extLst>
      <p:ext uri="{BB962C8B-B14F-4D97-AF65-F5344CB8AC3E}">
        <p14:creationId xmlns:p14="http://schemas.microsoft.com/office/powerpoint/2010/main" val="739347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D52FE9-C32E-42D4-856D-6CC93F4E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5B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15B24"/>
                </a:solidFill>
                <a:latin typeface="Arial"/>
                <a:ea typeface="Arial"/>
                <a:cs typeface="Arial"/>
              </a:rPr>
              <a:t>四到战略回顾 · GHOST DECK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B00DA-C174-4CF5-9CA5-B339C539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225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外部对标：领先实践围绕连续照护、数字连接和支付能力展开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EF0D4-5882-458A-9DF9-0FAE2A12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F9228-4D8E-4C58-B9B3-1462F0BE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1789D-B55A-4564-AFD3-7CF760DE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5B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15B24"/>
                </a:solidFill>
                <a:latin typeface="Arial"/>
                <a:ea typeface="Arial"/>
                <a:cs typeface="Arial"/>
              </a:rPr>
              <a:t>UnitedHealth / Optum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42F8E-F39D-411E-AFA9-8658A6DD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5735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3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666B73"/>
                </a:solidFill>
                <a:latin typeface="STKaiti"/>
                <a:ea typeface="STKaiti"/>
                <a:cs typeface="STKaiti"/>
              </a:rPr>
              <a:t>将保险福利、照护交付、药房和技术能力纳入同一服务体系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D4466-8169-4E0E-B47A-1B5ABB4C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57350"/>
            <a:ext cx="3981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启示：支付方应主动组织服务供给与客户旅程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75CD9-35B8-4F16-84A4-603F28F6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053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243AF-323D-4162-95AD-22F3F145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京东健康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95BB1-01E5-4B2B-BCEA-37D58E35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560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3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666B73"/>
                </a:solidFill>
                <a:latin typeface="STKaiti"/>
                <a:ea typeface="STKaiti"/>
                <a:cs typeface="STKaiti"/>
              </a:rPr>
              <a:t>整合医药供应、医疗服务与数字化健康管理场景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CE703-08E9-4F68-A0F3-5EE32177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95600"/>
            <a:ext cx="3981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启示：高频服务和履约网络决定用户粘性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04837-4D9E-4B99-B5F2-31F84FCC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1053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C84716-A0D4-4B94-A4A0-B3AC68CE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阿里健康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D21AB-5946-40DB-99AF-8A876204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3385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3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666B73"/>
                </a:solidFill>
                <a:latin typeface="STKaiti"/>
                <a:ea typeface="STKaiti"/>
                <a:cs typeface="STKaiti"/>
              </a:rPr>
              <a:t>以云基础设施、云药房和互联网医院连接线上线下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0B847F-757D-488F-8517-883A5674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133850"/>
            <a:ext cx="3981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启示：数据与平台能力支撑规模化运营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87D743-70A3-4382-828C-4EF4C7F5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053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10D20E-FA13-4CAD-9D73-FED1410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86400"/>
            <a:ext cx="105346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76DE0A-7B64-41DE-99B6-33E20B5F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626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对标目的不是复制产品形态，而是判断“四到”需要补齐哪些经营与组织能力。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7BED17-831B-4C2E-8C2A-98243670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F96"/>
                </a:solidFill>
                <a:latin typeface="STKaiti"/>
                <a:ea typeface="STKaiti"/>
                <a:cs typeface="STKaiti"/>
              </a:defRPr>
            </a:pPr>
            <a:r>
              <a:rPr sz="750" b="0">
                <a:solidFill>
                  <a:srgbClr val="8B8F96"/>
                </a:solidFill>
                <a:latin typeface="STKaiti"/>
                <a:ea typeface="STKaiti"/>
                <a:cs typeface="STKaiti"/>
              </a:rPr>
              <a:t>公开信息整理，仅用于产品演示；正式研究需进一步核验原文与数据口径</a:t>
            </a:r>
          </a:p>
        </p:txBody>
      </p:sp>
    </p:spTree>
    <p:extLst>
      <p:ext uri="{BB962C8B-B14F-4D97-AF65-F5344CB8AC3E}">
        <p14:creationId xmlns:p14="http://schemas.microsoft.com/office/powerpoint/2010/main" val="14143595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3FF061-23EF-4563-9914-2F2115D5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5B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15B24"/>
                </a:solidFill>
                <a:latin typeface="Arial"/>
                <a:ea typeface="Arial"/>
                <a:cs typeface="Arial"/>
              </a:rPr>
              <a:t>四到战略回顾 · GHOST DECK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5AA55-59F5-449F-B43F-5948F9C7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255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下一阶段战略选择：聚焦三类高价值旅程和四项共性能力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C34BC-B5D4-4E09-AA46-61F6B96E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0D520-2FDE-497F-B954-8E3F058F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84F03-5442-41C7-A921-92BB497D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5B24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F15B24"/>
                </a:solidFill>
                <a:latin typeface="STKaiti"/>
                <a:ea typeface="STKaiti"/>
                <a:cs typeface="STKaiti"/>
              </a:rPr>
              <a:t>优先旅程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21EC1-4F83-4AE7-B609-E9F876F3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15B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15B2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87717C-8423-4FF4-A742-6BBA8061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336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慢病客户连续管理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5276C-8169-47FB-8EA3-BB178BD1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15B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15B2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05560-4C3F-4DF5-AB5B-A6FEE93A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57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高端客户就医与支付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54FBB-901D-4491-9946-B97E2F23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15B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15B2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B3B7D-2896-4F23-BFC0-2EFA8501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814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企业客户健康管理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F38FDF-FB08-4355-B010-89DBAC14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6192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36412-DE89-4E1E-AD8F-CD67AB7D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002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5B24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F15B24"/>
                </a:solidFill>
                <a:latin typeface="STKaiti"/>
                <a:ea typeface="STKaiti"/>
                <a:cs typeface="STKaiti"/>
              </a:rPr>
              <a:t>共性能力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A444D-7633-486A-A3D3-D7A4F26F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统一身份与数据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8496A-0F3B-4AFE-9022-76FF40B9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145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B73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666B73"/>
                </a:solidFill>
                <a:latin typeface="STKaiti"/>
                <a:ea typeface="STKaiti"/>
                <a:cs typeface="STKaiti"/>
              </a:rPr>
              <a:t>打通客户、支付、服务与结果记录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873477-1639-419E-BE63-4AADB946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家庭医生导航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A7082C-3B99-4BF9-AF63-C1550748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146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B73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666B73"/>
                </a:solidFill>
                <a:latin typeface="STKaiti"/>
                <a:ea typeface="STKaiti"/>
                <a:cs typeface="STKaiti"/>
              </a:rPr>
              <a:t>完成识别、分流、服务匹配与跟进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E78650-532A-4578-BA56-0D746129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医疗供给治理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00D36B-8E0A-44BF-9D70-2409D840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B73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666B73"/>
                </a:solidFill>
                <a:latin typeface="STKaiti"/>
                <a:ea typeface="STKaiti"/>
                <a:cs typeface="STKaiti"/>
              </a:rPr>
              <a:t>统一准入、质量、履约和评价标准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22FB8B-66E3-4C8F-A029-1004F4E3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价值衡量体系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3A9F5A-D533-4812-9F40-11D2BD00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148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B73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666B73"/>
                </a:solidFill>
                <a:latin typeface="STKaiti"/>
                <a:ea typeface="STKaiti"/>
                <a:cs typeface="STKaiti"/>
              </a:rPr>
              <a:t>同时衡量结果、体验、成本和协同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617643-5B67-4E16-A9D9-6446CB71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管理层需确认：优先旅程、资源投入边界和统一价值指标。</a:t>
            </a:r>
          </a:p>
        </p:txBody>
      </p:sp>
    </p:spTree>
    <p:extLst>
      <p:ext uri="{BB962C8B-B14F-4D97-AF65-F5344CB8AC3E}">
        <p14:creationId xmlns:p14="http://schemas.microsoft.com/office/powerpoint/2010/main" val="21092936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B769D8-5EC9-4FBC-9055-8D41185C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5B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15B24"/>
                </a:solidFill>
                <a:latin typeface="Arial"/>
                <a:ea typeface="Arial"/>
                <a:cs typeface="Arial"/>
              </a:rPr>
              <a:t>四到战略回顾 · GHOST DECK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D6C76-A7DE-471E-A4C0-85258F30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255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行动路线：90 天形成战略共识和可执行项目组合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6B546-922B-4867-BDBB-9C1E11B5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3ECBC-B368-4EB4-A26E-82E3604B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87ABE-66F9-462B-87EC-119387CC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15B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15B24"/>
                </a:solidFill>
                <a:latin typeface="Arial"/>
                <a:ea typeface="Arial"/>
                <a:cs typeface="Arial"/>
              </a:rPr>
              <a:t>0–30 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7D520-04E5-4F8F-BD0B-9898D109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B2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9EF10-80F1-4B63-8176-33AB8BCF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95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验证问题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669A2-3F6C-4232-9A93-0EEEB99A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2724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3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666B73"/>
                </a:solidFill>
                <a:latin typeface="STKaiti"/>
                <a:ea typeface="STKaiti"/>
                <a:cs typeface="STKaiti"/>
              </a:rPr>
              <a:t>补齐台账与访谈，确认差距和关键假设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8716A-16C3-4D62-A8C5-21C511B4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954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15B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15B24"/>
                </a:solidFill>
                <a:latin typeface="Arial"/>
                <a:ea typeface="Arial"/>
                <a:cs typeface="Arial"/>
              </a:rPr>
              <a:t>31–60 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96434-1C82-4572-90DB-54C626F8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63AD5-7CBE-4E05-A6F8-6C7BA32E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95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形成选择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7F902-7CAF-4EF2-A0CB-62486F70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05150"/>
            <a:ext cx="2724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3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666B73"/>
                </a:solidFill>
                <a:latin typeface="STKaiti"/>
                <a:ea typeface="STKaiti"/>
                <a:cs typeface="STKaiti"/>
              </a:rPr>
              <a:t>评估优先旅程、能力差距与资源需求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90B2F-8C50-42B8-92FE-7BDE5832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954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15B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15B24"/>
                </a:solidFill>
                <a:latin typeface="Arial"/>
                <a:ea typeface="Arial"/>
                <a:cs typeface="Arial"/>
              </a:rPr>
              <a:t>61–90 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D10B71-9C29-4B52-A933-08A665B5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098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1E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2434B6-7833-4A91-8845-769CFE7B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717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D"/>
                </a:solidFill>
                <a:latin typeface="STKaiti"/>
                <a:ea typeface="STKaiti"/>
                <a:cs typeface="STKaiti"/>
              </a:defRPr>
            </a:pPr>
            <a:r>
              <a:rPr sz="1950" b="1">
                <a:solidFill>
                  <a:srgbClr val="17191D"/>
                </a:solidFill>
                <a:latin typeface="STKaiti"/>
                <a:ea typeface="STKaiti"/>
                <a:cs typeface="STKaiti"/>
              </a:rPr>
              <a:t>落到项目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B8EA8C-DAE0-4A62-8C58-C49A0B5B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05150"/>
            <a:ext cx="2724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3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666B73"/>
                </a:solidFill>
                <a:latin typeface="STKaiti"/>
                <a:ea typeface="STKaiti"/>
                <a:cs typeface="STKaiti"/>
              </a:rPr>
              <a:t>形成项目组合、责任分工、指标和推进节奏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0D2D8-0FB0-47CB-AF0D-AC305DC8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10668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5B2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255360-B9CB-445B-B2F4-8B5A96B8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1575" b="1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交付物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996F6D-5258-4085-A106-F9EEF730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95850"/>
            <a:ext cx="872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战略回顾报告　　优先议题清单　　项目组合与路线图　　统一指标框架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5F0BBC-F40E-4F60-87FE-E4B815FE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F96"/>
                </a:solidFill>
                <a:latin typeface="STKaiti"/>
                <a:ea typeface="STKaiti"/>
                <a:cs typeface="STKaiti"/>
              </a:defRPr>
            </a:pPr>
            <a:r>
              <a:rPr sz="750" b="0">
                <a:solidFill>
                  <a:srgbClr val="8B8F96"/>
                </a:solidFill>
                <a:latin typeface="STKaiti"/>
                <a:ea typeface="STKaiti"/>
                <a:cs typeface="STKaiti"/>
              </a:rPr>
              <a:t>本文件为战发大脑产品演示生成的 Ghost Deck，可在 PowerPoint 中继续编辑</a:t>
            </a:r>
          </a:p>
        </p:txBody>
      </p:sp>
    </p:spTree>
    <p:extLst>
      <p:ext uri="{BB962C8B-B14F-4D97-AF65-F5344CB8AC3E}">
        <p14:creationId xmlns:p14="http://schemas.microsoft.com/office/powerpoint/2010/main" val="7127989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2026-09-23T09:45:56.5930000Z</dcterms:created>
  <dcterms:modified xsi:type="dcterms:W3CDTF">2026-09-23T09:45:56.5930000Z</dcterms:modified>
</coreProperties>
</file>